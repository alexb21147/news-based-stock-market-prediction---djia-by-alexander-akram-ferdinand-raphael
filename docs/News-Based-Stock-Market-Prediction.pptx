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Epilogue" panose="020B0604020202020204" charset="0"/>
      <p:regular r:id="rId11"/>
    </p:embeddedFont>
    <p:embeddedFont>
      <p:font typeface="Fraunces Medium" panose="020B0604020202020204" charset="0"/>
      <p:regular r:id="rId1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E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9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47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9160"/>
            <a:ext cx="100244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News-Based Stock Market Prediction</a:t>
            </a:r>
            <a:endParaRPr lang="en-US" sz="6500" dirty="0"/>
          </a:p>
        </p:txBody>
      </p:sp>
      <p:sp>
        <p:nvSpPr>
          <p:cNvPr id="3" name="Text 1"/>
          <p:cNvSpPr/>
          <p:nvPr/>
        </p:nvSpPr>
        <p:spPr>
          <a:xfrm>
            <a:off x="793790" y="3102531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i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Prédiction de la direction du Dow Jones Industrial Average à partir de titres Reddit (2008-2016)</a:t>
            </a:r>
          </a:p>
          <a:p>
            <a:pPr marL="0" indent="0" algn="l">
              <a:lnSpc>
                <a:spcPts val="3300"/>
              </a:lnSpc>
              <a:buNone/>
            </a:pPr>
            <a:endParaRPr lang="en-US" sz="2650" i="1" dirty="0">
              <a:solidFill>
                <a:srgbClr val="FFFFFF"/>
              </a:solidFill>
              <a:latin typeface="Fraunces Medium" pitchFamily="34" charset="0"/>
            </a:endParaRPr>
          </a:p>
          <a:p>
            <a:pPr marL="0" indent="0" algn="l">
              <a:lnSpc>
                <a:spcPts val="3300"/>
              </a:lnSpc>
              <a:buNone/>
            </a:pPr>
            <a:endParaRPr lang="en-US" sz="2650" i="1" dirty="0">
              <a:solidFill>
                <a:srgbClr val="FFFFFF"/>
              </a:solidFill>
              <a:latin typeface="Fraunces Medium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43839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b="1" dirty="0">
              <a:solidFill>
                <a:srgbClr val="FFFFFF"/>
              </a:solidFill>
              <a:latin typeface="Fraunces Medium" pitchFamily="34" charset="0"/>
              <a:ea typeface="Fraunces Medium" pitchFamily="34" charset="-122"/>
              <a:cs typeface="Fraunces Medium" pitchFamily="34" charset="-120"/>
            </a:endParaRPr>
          </a:p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Équipe : </a:t>
            </a: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Akram Boudebouze · Alexander Besson · Ferdinand Carsoux · Raphaël Essengue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5383081"/>
            <a:ext cx="702885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Encadrants</a:t>
            </a:r>
            <a:r>
              <a:rPr lang="en-US" sz="26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:</a:t>
            </a: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M. El Fakir &amp; N. de Roux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6297031"/>
            <a:ext cx="1080647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 : </a:t>
            </a: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Kaggle · 2008-2016 · 1 989 jours de bourse · 25 titres/jour</a:t>
            </a:r>
            <a:endParaRPr lang="en-US" sz="26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30399-28FF-2B54-1E50-8039E6C4212E}"/>
              </a:ext>
            </a:extLst>
          </p:cNvPr>
          <p:cNvSpPr/>
          <p:nvPr/>
        </p:nvSpPr>
        <p:spPr>
          <a:xfrm>
            <a:off x="12542108" y="7438768"/>
            <a:ext cx="2088292" cy="790832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4391"/>
            <a:ext cx="61905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Plan de la présentation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736300"/>
            <a:ext cx="2845594" cy="16907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93790" y="4065032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Données &amp; Exploration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142428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Dataset Reddit/DJIA — 8 ans, 1 989 jours, 25 titres/jour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00406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00406" y="3736300"/>
            <a:ext cx="2845594" cy="16907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200406" y="4065032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4200406" y="5142428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TF-IDF · Features financières (yfinance) · Sentiment VADER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07022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07022" y="3736300"/>
            <a:ext cx="2845594" cy="16907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607022" y="4065032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Modélisation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607022" y="5142427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 niveaux : Classiques → Word2Vec → FinBERT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07022" y="5669756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             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1013638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013638" y="3736300"/>
            <a:ext cx="2845594" cy="16907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1013638" y="4065032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Résultats &amp; Conclusion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11013638" y="5142428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Interprétation, limites et perspectives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B7C2DE-77E5-9E02-0AD7-B103437449C7}"/>
              </a:ext>
            </a:extLst>
          </p:cNvPr>
          <p:cNvSpPr/>
          <p:nvPr/>
        </p:nvSpPr>
        <p:spPr>
          <a:xfrm>
            <a:off x="12542108" y="7438768"/>
            <a:ext cx="2088292" cy="790832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5803"/>
            <a:ext cx="3948946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01 — Données &amp; Exploration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418749" y="1399580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1989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657945" y="203156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Jours de bourse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2357676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2008 → 2016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418749" y="2817495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657945" y="344947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Titres Reddit/jour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3790" y="3775591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Top 1 → Top 25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18749" y="4235410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53.5%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657945" y="486739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Jours en hausse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93790" y="5193506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Dataset quasi-équilibré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8749" y="5653326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657945" y="628530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Années de données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93790" y="6611422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Crise 2008 incluse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32258" y="1325880"/>
            <a:ext cx="4644866" cy="1374577"/>
          </a:xfrm>
          <a:prstGeom prst="roundRect">
            <a:avLst>
              <a:gd name="adj" fmla="val 4505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658" y="1480066"/>
            <a:ext cx="230267" cy="18419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57324" y="145839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Structure du dataset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257324" y="1784509"/>
            <a:ext cx="397240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Date</a:t>
            </a:r>
            <a:r>
              <a:rPr lang="en-US" sz="11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: Jour de trading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257324" y="2065258"/>
            <a:ext cx="397240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Label (0/1)</a:t>
            </a:r>
            <a:r>
              <a:rPr lang="en-US" sz="11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: Baisse/Hausse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257324" y="2346008"/>
            <a:ext cx="397240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Top1 à Top25</a:t>
            </a:r>
            <a:r>
              <a:rPr lang="en-US" sz="11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: Titres Reddit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732258" y="2808208"/>
            <a:ext cx="464486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732258" y="3088958"/>
            <a:ext cx="464486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32258" y="3369707"/>
            <a:ext cx="464486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732258" y="3650456"/>
            <a:ext cx="464486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732258" y="3931206"/>
            <a:ext cx="464486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732258" y="422148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Observations clés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4732258" y="4547592"/>
            <a:ext cx="4644866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150" dirty="0">
                <a:solidFill>
                  <a:srgbClr val="EBECEF"/>
                </a:solidFill>
                <a:latin typeface="Optima" panose="02000503060000020004" pitchFamily="2" charset="0"/>
                <a:ea typeface="Epilogue" pitchFamily="34" charset="-122"/>
                <a:cs typeface="Epilogue" pitchFamily="34" charset="-120"/>
              </a:rPr>
              <a:t>Crise 2008–2009 visible : DJIA 12k → 6.5k</a:t>
            </a:r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sz="1150" dirty="0">
              <a:latin typeface="Optima" panose="02000503060000020004" pitchFamily="2" charset="0"/>
            </a:endParaRPr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EBECEF"/>
                </a:solidFill>
                <a:latin typeface="Optima" panose="02000503060000020004" pitchFamily="2" charset="0"/>
                <a:ea typeface="Epilogue" pitchFamily="34" charset="-122"/>
                <a:cs typeface="Epilogue" pitchFamily="34" charset="-120"/>
              </a:rPr>
              <a:t> Mots dominants : police, china, government → </a:t>
            </a:r>
            <a:r>
              <a:rPr lang="en-US" sz="1150" dirty="0" err="1">
                <a:solidFill>
                  <a:srgbClr val="EBECEF"/>
                </a:solidFill>
                <a:latin typeface="Optima" panose="02000503060000020004" pitchFamily="2" charset="0"/>
                <a:ea typeface="Epilogue" pitchFamily="34" charset="-122"/>
                <a:cs typeface="Epilogue" pitchFamily="34" charset="-120"/>
              </a:rPr>
              <a:t>géopolitique</a:t>
            </a:r>
            <a:endParaRPr lang="en-US" sz="1150" dirty="0">
              <a:solidFill>
                <a:srgbClr val="EBECEF"/>
              </a:solidFill>
              <a:latin typeface="Optima" panose="02000503060000020004" pitchFamily="2" charset="0"/>
              <a:ea typeface="Epilogue" pitchFamily="34" charset="-122"/>
              <a:cs typeface="Epilogue" pitchFamily="34" charset="-120"/>
            </a:endParaRPr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sz="1150" dirty="0">
              <a:latin typeface="Optima" panose="02000503060000020004" pitchFamily="2" charset="0"/>
            </a:endParaRPr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EBECEF"/>
                </a:solidFill>
                <a:latin typeface="Optima" panose="02000503060000020004" pitchFamily="2" charset="0"/>
                <a:ea typeface="Epilogue" pitchFamily="34" charset="-122"/>
                <a:cs typeface="Epilogue" pitchFamily="34" charset="-120"/>
              </a:rPr>
              <a:t>~500 mots/jour : 25 titres × ~20 mots</a:t>
            </a:r>
            <a:endParaRPr lang="en-US" sz="1150" dirty="0">
              <a:latin typeface="Optima" panose="02000503060000020004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744313" y="1304330"/>
            <a:ext cx="410741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118" y="756190"/>
            <a:ext cx="3705492" cy="2923676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3842" y="3807598"/>
            <a:ext cx="3662768" cy="3024891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808910" y="7023022"/>
            <a:ext cx="13042821" cy="502206"/>
          </a:xfrm>
          <a:prstGeom prst="roundRect">
            <a:avLst>
              <a:gd name="adj" fmla="val 12330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63" y="7185183"/>
            <a:ext cx="184190" cy="14739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72778" y="7153989"/>
            <a:ext cx="12416433" cy="20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Bug fix V1→V2 :</a:t>
            </a:r>
            <a:r>
              <a:rPr lang="en-US" sz="11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Préfixe b'...' (Python 2 scraping) supprimé sur tous les titres → Impact : TF-IDF bigrammes corrects ("north korea", "stock market")</a:t>
            </a:r>
            <a:endParaRPr lang="en-US" sz="11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69FACB-E158-EF61-A3F6-302D32985F89}"/>
              </a:ext>
            </a:extLst>
          </p:cNvPr>
          <p:cNvSpPr/>
          <p:nvPr/>
        </p:nvSpPr>
        <p:spPr>
          <a:xfrm>
            <a:off x="12542108" y="7698582"/>
            <a:ext cx="2088292" cy="531017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738"/>
            <a:ext cx="589037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02 — Feature Engineering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89854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Split chronologique strict : Train 2008→2013 (60%) · Validation 2014 (20%) · Test 2015→2016 (20%)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89" y="2387309"/>
            <a:ext cx="2232303" cy="3327810"/>
          </a:xfrm>
          <a:prstGeom prst="roundRect">
            <a:avLst>
              <a:gd name="adj" fmla="val 362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94172" y="2544128"/>
            <a:ext cx="183153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TF-IDF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93980" y="3146584"/>
            <a:ext cx="2132112" cy="18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5 000 features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Bigrammes (1,2)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sublinear_tf=True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stop_words anglais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3817" y="2387309"/>
            <a:ext cx="2509837" cy="3327810"/>
          </a:xfrm>
          <a:prstGeom prst="roundRect">
            <a:avLst>
              <a:gd name="adj" fmla="val 362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04200" y="2587693"/>
            <a:ext cx="183153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Financières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492487" y="3167896"/>
            <a:ext cx="2332495" cy="159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 features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ret_1d, ret_5d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vol_5d, vol_20d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RSI 14j · day_of_week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4229" y="2343744"/>
            <a:ext cx="2509837" cy="3371375"/>
          </a:xfrm>
          <a:prstGeom prst="roundRect">
            <a:avLst>
              <a:gd name="adj" fmla="val 362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14611" y="2544128"/>
            <a:ext cx="1831538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Sentiment VADER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291380" y="3173075"/>
            <a:ext cx="2810411" cy="18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 features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sent_pos, </a:t>
            </a:r>
            <a:r>
              <a:rPr lang="en-US" sz="150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sent_neg</a:t>
            </a:r>
            <a:endParaRPr lang="en-US" sz="1500" dirty="0">
              <a:solidFill>
                <a:srgbClr val="EBECEF"/>
              </a:solidFill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sent_neu</a:t>
            </a:r>
            <a:endParaRPr lang="en-US" sz="1500" dirty="0">
              <a:solidFill>
                <a:srgbClr val="EBECEF"/>
              </a:solidFill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sent_compound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41656" y="2170852"/>
            <a:ext cx="331089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Corrélation features vs Label</a:t>
            </a:r>
            <a:endParaRPr lang="en-US" sz="18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656" y="2656388"/>
            <a:ext cx="4194572" cy="278141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3790" y="5958840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▼ X_all = TF-IDF + Financières + Sentiment → 5 010 dimensions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93790" y="6428423"/>
            <a:ext cx="13042821" cy="1041440"/>
          </a:xfrm>
          <a:prstGeom prst="roundRect">
            <a:avLst>
              <a:gd name="adj" fmla="val 7776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52" y="6691074"/>
            <a:ext cx="240983" cy="1927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20297" y="6640354"/>
            <a:ext cx="12223552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💡</a:t>
            </a:r>
            <a:r>
              <a:rPr lang="en-US" sz="15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Insight :</a:t>
            </a:r>
            <a:r>
              <a:rPr lang="en-US" sz="15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day_of_week est la feature la plus corrélée positivement au label → effet calendrier sous-estimé. ret_1d montre une corrélation négative → signal de mean-reversion.</a:t>
            </a:r>
            <a:endParaRPr lang="en-US" sz="15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C1B942-E250-6303-EEA5-6D517659D965}"/>
              </a:ext>
            </a:extLst>
          </p:cNvPr>
          <p:cNvSpPr/>
          <p:nvPr/>
        </p:nvSpPr>
        <p:spPr>
          <a:xfrm>
            <a:off x="12542108" y="7654172"/>
            <a:ext cx="2088292" cy="575428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66750"/>
            <a:ext cx="4186476" cy="52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03 — Modélisation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81407" y="1437203"/>
            <a:ext cx="13067586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Protocole : Walk-Forward Validation (3 fenêtres glissantes) · Métriques : Accuracy · F1 · AUC-ROC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311479"/>
            <a:ext cx="4273391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8809" y="2937391"/>
            <a:ext cx="2161223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Niveau 1 — Classiques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48809" y="3273147"/>
            <a:ext cx="393858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TF-IDF + Financières + Sentiment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48809" y="3580209"/>
            <a:ext cx="3938588" cy="78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Logistique (C=1.0)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Random Forest (200 arbres)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8809" y="4439483"/>
            <a:ext cx="393858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Meilleur : GB · AUC 0.537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385" y="2060258"/>
            <a:ext cx="4273510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5787" y="2686169"/>
            <a:ext cx="2173010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Niveau 2 — Word2Vec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345787" y="3021925"/>
            <a:ext cx="3938707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Word2Vec + Financières + Sentiment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45787" y="3328987"/>
            <a:ext cx="3938707" cy="78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200 dimensions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Skip-gram, window=5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 = moyenne vecteurs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5787" y="4188262"/>
            <a:ext cx="3938707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Meilleur global · AUC 0.550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483" y="1809155"/>
            <a:ext cx="4273510" cy="1143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42884" y="2435066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Niveau 3 — FinBERT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742884" y="2770823"/>
            <a:ext cx="3938707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Embeddings contextuels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742884" y="3077885"/>
            <a:ext cx="3938707" cy="78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ProsusAI/finbert (109M)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Fine-tuning 3 époques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MAX_LEN=256 tokens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742884" y="3937159"/>
            <a:ext cx="3938707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AUC 0.482 — overfitting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8934" y="5594806"/>
            <a:ext cx="4560808" cy="165127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1407" y="5381459"/>
            <a:ext cx="6464260" cy="2305883"/>
          </a:xfrm>
          <a:prstGeom prst="roundRect">
            <a:avLst>
              <a:gd name="adj" fmla="val 3050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5"/>
          <p:cNvSpPr/>
          <p:nvPr/>
        </p:nvSpPr>
        <p:spPr>
          <a:xfrm>
            <a:off x="1430179" y="5546836"/>
            <a:ext cx="5648087" cy="62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⚠</a:t>
            </a:r>
            <a:r>
              <a:rPr lang="en-US" sz="1950" dirty="0">
                <a:solidFill>
                  <a:srgbClr val="F5C518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Contre-intuitif :</a:t>
            </a: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Word2Vec (N2) &gt; FinBERT (N3). </a:t>
            </a:r>
            <a:endParaRPr lang="en-US" sz="1950" dirty="0"/>
          </a:p>
        </p:txBody>
      </p:sp>
      <p:sp>
        <p:nvSpPr>
          <p:cNvPr id="23" name="Text 16"/>
          <p:cNvSpPr/>
          <p:nvPr/>
        </p:nvSpPr>
        <p:spPr>
          <a:xfrm>
            <a:off x="1430179" y="6224183"/>
            <a:ext cx="5648087" cy="125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FinBERT souffre du corpus trop petit (255 steps seulement). Le F1 élevé (0.665) masque un biais vers la classe "hausse" . l'AUC (0.482) révèle une discrimination quasi-aléatoire.</a:t>
            </a:r>
            <a:endParaRPr lang="en-US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D519CA-15FD-737B-6ABB-A10945CA8215}"/>
              </a:ext>
            </a:extLst>
          </p:cNvPr>
          <p:cNvSpPr/>
          <p:nvPr/>
        </p:nvSpPr>
        <p:spPr>
          <a:xfrm>
            <a:off x="12542108" y="7438768"/>
            <a:ext cx="2088292" cy="790832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9144"/>
            <a:ext cx="5008602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04 — Résultats comparatifs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3790" y="1496854"/>
            <a:ext cx="13042821" cy="3012281"/>
          </a:xfrm>
          <a:prstGeom prst="roundRect">
            <a:avLst>
              <a:gd name="adj" fmla="val 268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1410" y="1504474"/>
            <a:ext cx="11040785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678192" y="1610320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Niveau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00506" y="1610320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Modèle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50242" y="1610320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Accuracy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0666" y="1610320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48342" y="1610320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AUC-ROC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1410" y="2001441"/>
            <a:ext cx="11040785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678192" y="2107287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N1 — Classique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0506" y="2107287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Régression Logistique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50242" y="2107287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0.487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0666" y="2107287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0.592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48342" y="2107287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0.481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1410" y="2498408"/>
            <a:ext cx="11040785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678192" y="2604254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N1 — Classique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00506" y="2604254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50242" y="2604254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0.508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0666" y="2604254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0.652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48342" y="2604254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0.481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1410" y="2995374"/>
            <a:ext cx="11040785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678192" y="3101221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N1 — Classique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00506" y="3101221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50242" y="3101221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0.511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0666" y="3101221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0.588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48342" y="3101221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0.537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1410" y="3492341"/>
            <a:ext cx="11040785" cy="5122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678192" y="3598188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N2 — Embeddings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00506" y="3598188"/>
            <a:ext cx="2256592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Word2Vec + GB 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50242" y="3598188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0.534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0666" y="3598188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0.627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548342" y="3598188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0.550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01410" y="4004548"/>
            <a:ext cx="11040785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678192" y="4110395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N3 — Transformer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00506" y="4110395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FinBERT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650242" y="4110395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0.503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0666" y="4110395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0.665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548342" y="4110395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0.482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93790" y="4693444"/>
            <a:ext cx="13042821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🏆</a:t>
            </a: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Meilleur modèle : Word2Vec + GB (AUC 0.550, Accuracy 0.534)</a:t>
            </a:r>
            <a:endParaRPr lang="en-US" sz="15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007" y="5178266"/>
            <a:ext cx="11086386" cy="2282071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60BEE0F3-F6CE-E4AC-7092-D41A8A545B64}"/>
              </a:ext>
            </a:extLst>
          </p:cNvPr>
          <p:cNvSpPr txBox="1"/>
          <p:nvPr/>
        </p:nvSpPr>
        <p:spPr>
          <a:xfrm>
            <a:off x="11007399" y="7207680"/>
            <a:ext cx="1084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Epilogue" pitchFamily="34" charset="0"/>
                <a:ea typeface="Epilogue" pitchFamily="34" charset="-122"/>
                <a:cs typeface="Epilogue" pitchFamily="34" charset="-120"/>
              </a:rPr>
              <a:t>FinBERT</a:t>
            </a:r>
            <a:endParaRPr lang="en-US" sz="800" dirty="0"/>
          </a:p>
          <a:p>
            <a:endParaRPr lang="fr-FR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CADE0714-43B0-0746-D7A1-3539750973CD}"/>
              </a:ext>
            </a:extLst>
          </p:cNvPr>
          <p:cNvSpPr txBox="1"/>
          <p:nvPr/>
        </p:nvSpPr>
        <p:spPr>
          <a:xfrm>
            <a:off x="8747522" y="7207680"/>
            <a:ext cx="1084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Word2Vec + GB</a:t>
            </a:r>
            <a:endParaRPr lang="en-US" sz="800" dirty="0"/>
          </a:p>
          <a:p>
            <a:endParaRPr lang="fr-FR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D9F021-9992-462C-CF1E-6FC7F268AB82}"/>
              </a:ext>
            </a:extLst>
          </p:cNvPr>
          <p:cNvSpPr/>
          <p:nvPr/>
        </p:nvSpPr>
        <p:spPr>
          <a:xfrm>
            <a:off x="12542108" y="7546234"/>
            <a:ext cx="2088292" cy="683366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35C0EDB-9895-939C-7779-1A1431F958B8}"/>
              </a:ext>
            </a:extLst>
          </p:cNvPr>
          <p:cNvSpPr/>
          <p:nvPr/>
        </p:nvSpPr>
        <p:spPr>
          <a:xfrm>
            <a:off x="12542108" y="7546232"/>
            <a:ext cx="2088292" cy="683367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0833"/>
            <a:ext cx="768667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04 — Interprétation &amp; Conclusion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962864"/>
            <a:ext cx="459938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Importance (Gradient Boosting)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48401"/>
            <a:ext cx="6287953" cy="31240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57968" y="1962864"/>
            <a:ext cx="259722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Limites &amp; Perspectives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557968" y="2427922"/>
            <a:ext cx="6286262" cy="199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Biais vers la hausse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280 pred. hausse vs 98 baisse → discrimine mal les baisses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2013 systématiquement &lt; 0.5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Signal absent cette année quelle que soit la méthode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FinBERT : data hunger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109M params, 255 steps → trop peu de données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57968" y="4610219"/>
            <a:ext cx="6286262" cy="1205984"/>
          </a:xfrm>
          <a:prstGeom prst="roundRect">
            <a:avLst>
              <a:gd name="adj" fmla="val 6715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731" y="4847511"/>
            <a:ext cx="301228" cy="2409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44721" y="482215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Piste d'amélioration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244721" y="5287208"/>
            <a:ext cx="54067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Feature extraction figée, corpus plus grand, hyperopt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82993" y="6430566"/>
            <a:ext cx="12753618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Conclusion :</a:t>
            </a: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</a:t>
            </a: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Le signal textuel est un proxy imparfait. Avec AUC ~0.55, les modèles font légèrement mieux que le hasard mais restent fragiles face à l'instabilité temporelle des marchés.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793790" y="6184821"/>
            <a:ext cx="22860" cy="1093946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143685-44AB-9346-6970-C96ED29F99BF}"/>
              </a:ext>
            </a:extLst>
          </p:cNvPr>
          <p:cNvSpPr/>
          <p:nvPr/>
        </p:nvSpPr>
        <p:spPr>
          <a:xfrm>
            <a:off x="12542108" y="7438768"/>
            <a:ext cx="2088292" cy="790832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04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Merci !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793790" y="243935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i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Des questions ?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675256" y="37405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0.550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675256" y="47723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AUC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75256" y="527137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Word2Vec + GB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117359" y="37405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53.4%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5117359" y="47723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Accuracy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117359" y="527137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Meilleur modèle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559461" y="37405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1989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559461" y="47723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Jours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559461" y="527137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Dataset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DC6D19-F7D0-3060-0D41-CFA9EC29AB92}"/>
              </a:ext>
            </a:extLst>
          </p:cNvPr>
          <p:cNvSpPr/>
          <p:nvPr/>
        </p:nvSpPr>
        <p:spPr>
          <a:xfrm>
            <a:off x="12542108" y="7438768"/>
            <a:ext cx="2088292" cy="790832"/>
          </a:xfrm>
          <a:prstGeom prst="rect">
            <a:avLst/>
          </a:prstGeom>
          <a:solidFill>
            <a:srgbClr val="080E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724</Words>
  <Application>Microsoft Office PowerPoint</Application>
  <PresentationFormat>Personnalisé</PresentationFormat>
  <Paragraphs>160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Epilogue</vt:lpstr>
      <vt:lpstr>Arial</vt:lpstr>
      <vt:lpstr>Optima</vt:lpstr>
      <vt:lpstr>Fraunces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Alexander Besson</dc:creator>
  <cp:lastModifiedBy>Alexander Besson</cp:lastModifiedBy>
  <cp:revision>3</cp:revision>
  <dcterms:created xsi:type="dcterms:W3CDTF">2026-04-19T21:49:41Z</dcterms:created>
  <dcterms:modified xsi:type="dcterms:W3CDTF">2026-04-20T10:46:02Z</dcterms:modified>
</cp:coreProperties>
</file>