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6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832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A70901-69B0-20F6-8A39-03C6708F2EBE}"/>
              </a:ext>
            </a:extLst>
          </p:cNvPr>
          <p:cNvSpPr/>
          <p:nvPr/>
        </p:nvSpPr>
        <p:spPr>
          <a:xfrm flipV="1">
            <a:off x="620169" y="2962210"/>
            <a:ext cx="13385197" cy="1152590"/>
          </a:xfrm>
          <a:prstGeom prst="rect">
            <a:avLst/>
          </a:prstGeom>
          <a:solidFill>
            <a:srgbClr val="B6D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2747903" y="1458074"/>
            <a:ext cx="91345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News-Based Stock Market Prediction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1356" y="3371564"/>
            <a:ext cx="13042821" cy="50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 i="1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Prédiction de la direction du Dow Jones Industrial Average à partir de titres Reddit (2008-2016)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1356" y="5008619"/>
            <a:ext cx="13630548" cy="1593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00" b="1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Équipe : </a:t>
            </a:r>
            <a:r>
              <a:rPr lang="en-US" sz="2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Akram Boudebouze · Alexander Besson · Ferdinand Carsoux · Raphaël Essengue</a:t>
            </a:r>
          </a:p>
          <a:p>
            <a:pPr>
              <a:lnSpc>
                <a:spcPts val="3300"/>
              </a:lnSpc>
            </a:pPr>
            <a:r>
              <a:rPr lang="en-US" sz="2000" b="1" dirty="0" err="1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Professeurs</a:t>
            </a:r>
            <a:r>
              <a:rPr lang="en-US" sz="2000" b="1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: </a:t>
            </a:r>
            <a:r>
              <a:rPr lang="en-US" sz="2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M. El Fakir &amp; N. de Roux</a:t>
            </a:r>
          </a:p>
          <a:p>
            <a:pPr>
              <a:lnSpc>
                <a:spcPts val="3300"/>
              </a:lnSpc>
            </a:pPr>
            <a:r>
              <a:rPr lang="en-US" sz="2000" b="1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Dataset : </a:t>
            </a:r>
            <a:r>
              <a:rPr lang="en-US" sz="2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Kaggle · 2008-2016 · 1 989 </a:t>
            </a:r>
            <a:r>
              <a:rPr lang="en-US" sz="2000" dirty="0" err="1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jours</a:t>
            </a:r>
            <a:r>
              <a:rPr lang="en-US" sz="2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de bourse · 25 </a:t>
            </a:r>
            <a:r>
              <a:rPr lang="en-US" sz="2000" dirty="0" err="1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titres</a:t>
            </a:r>
            <a:r>
              <a:rPr lang="en-US" sz="2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/jour</a:t>
            </a:r>
            <a:endParaRPr lang="en-US" sz="2000" dirty="0">
              <a:latin typeface="Aptos" panose="020B0004020202020204" pitchFamily="34" charset="0"/>
            </a:endParaRPr>
          </a:p>
          <a:p>
            <a:pPr>
              <a:lnSpc>
                <a:spcPts val="3300"/>
              </a:lnSpc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 algn="l">
              <a:lnSpc>
                <a:spcPts val="3300"/>
              </a:lnSpc>
              <a:buNone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195A69-8E9C-FD58-C7CF-A0E5F34B328F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C23B3EC-5557-19BC-4ACB-244E23BDDE54}"/>
              </a:ext>
            </a:extLst>
          </p:cNvPr>
          <p:cNvSpPr/>
          <p:nvPr/>
        </p:nvSpPr>
        <p:spPr>
          <a:xfrm flipV="1">
            <a:off x="10833906" y="2976780"/>
            <a:ext cx="3066024" cy="3357567"/>
          </a:xfrm>
          <a:prstGeom prst="rect">
            <a:avLst/>
          </a:prstGeom>
          <a:solidFill>
            <a:srgbClr val="B6D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1A6524-FC6F-3203-933F-BD9F55E56C63}"/>
              </a:ext>
            </a:extLst>
          </p:cNvPr>
          <p:cNvSpPr/>
          <p:nvPr/>
        </p:nvSpPr>
        <p:spPr>
          <a:xfrm flipV="1">
            <a:off x="7437648" y="2962207"/>
            <a:ext cx="3115409" cy="3357567"/>
          </a:xfrm>
          <a:prstGeom prst="rect">
            <a:avLst/>
          </a:prstGeom>
          <a:solidFill>
            <a:srgbClr val="B6D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D85DC6-07B5-E38D-118C-108F77239F61}"/>
              </a:ext>
            </a:extLst>
          </p:cNvPr>
          <p:cNvSpPr/>
          <p:nvPr/>
        </p:nvSpPr>
        <p:spPr>
          <a:xfrm flipV="1">
            <a:off x="4029860" y="2962209"/>
            <a:ext cx="3176326" cy="3357567"/>
          </a:xfrm>
          <a:prstGeom prst="rect">
            <a:avLst/>
          </a:prstGeom>
          <a:solidFill>
            <a:srgbClr val="B6D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40ADE-63A6-3702-3E81-C6CB4A186FB6}"/>
              </a:ext>
            </a:extLst>
          </p:cNvPr>
          <p:cNvSpPr/>
          <p:nvPr/>
        </p:nvSpPr>
        <p:spPr>
          <a:xfrm flipV="1">
            <a:off x="620170" y="2962210"/>
            <a:ext cx="3176326" cy="3357567"/>
          </a:xfrm>
          <a:prstGeom prst="rect">
            <a:avLst/>
          </a:prstGeom>
          <a:solidFill>
            <a:srgbClr val="B6D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793790" y="1794391"/>
            <a:ext cx="57656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Plan de la présentation</a:t>
            </a:r>
            <a:endParaRPr lang="en-US" sz="4400" dirty="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736300"/>
            <a:ext cx="2845594" cy="16907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065032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Données &amp; Exploration</a:t>
            </a:r>
            <a:endParaRPr lang="en-US" sz="265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142428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Dataset Reddit/DJIA — 8 ans, 1 989 jours, 25 titres/jour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00406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00406" y="3736300"/>
            <a:ext cx="2845594" cy="16907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00406" y="4065032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Feature Engineering</a:t>
            </a:r>
            <a:endParaRPr lang="en-US" sz="265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0406" y="5142428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TF-IDF · Features financières (yfinance) · Sentiment VADER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07022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07022" y="3736300"/>
            <a:ext cx="2845594" cy="16907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07022" y="4065032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Modélisation</a:t>
            </a:r>
            <a:endParaRPr lang="en-US" sz="265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07022" y="4717137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3 niveaux : Classiques → Word2Vec → FinBERT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07022" y="5669756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             </a:t>
            </a:r>
            <a:endParaRPr lang="en-US" sz="265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013638" y="3070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013638" y="3736300"/>
            <a:ext cx="2845594" cy="16907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013638" y="4065032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Résultats &amp; Conclusion</a:t>
            </a:r>
            <a:endParaRPr lang="en-US" sz="265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13638" y="5142428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Interprétation, limites et perspectives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E1320D-6365-3F79-27E2-B00CC61A2C21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B2C320C8-7435-740A-A5E3-C008267BBBAD}"/>
              </a:ext>
            </a:extLst>
          </p:cNvPr>
          <p:cNvSpPr/>
          <p:nvPr/>
        </p:nvSpPr>
        <p:spPr>
          <a:xfrm>
            <a:off x="4499283" y="1720075"/>
            <a:ext cx="5012055" cy="1489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A912B972-B92A-8692-ECBB-D2C3E8EB592C}"/>
              </a:ext>
            </a:extLst>
          </p:cNvPr>
          <p:cNvSpPr/>
          <p:nvPr/>
        </p:nvSpPr>
        <p:spPr>
          <a:xfrm>
            <a:off x="4499283" y="4456372"/>
            <a:ext cx="5012055" cy="184992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749B575F-83D4-1744-F8B6-ECE3CDF50C95}"/>
              </a:ext>
            </a:extLst>
          </p:cNvPr>
          <p:cNvSpPr/>
          <p:nvPr/>
        </p:nvSpPr>
        <p:spPr>
          <a:xfrm>
            <a:off x="1418749" y="1209319"/>
            <a:ext cx="2321242" cy="56522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18749" y="1399580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1989</a:t>
            </a:r>
            <a:endParaRPr lang="en-US" sz="38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57945" y="203156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Jours de bourse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357676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2008 → 2016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18749" y="2817495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25</a:t>
            </a:r>
            <a:endParaRPr lang="en-US" sz="38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57945" y="344947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Titres Reddit/jour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3775591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Top 1 → Top 25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8749" y="4235410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53.5%</a:t>
            </a:r>
            <a:endParaRPr lang="en-US" sz="38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57945" y="486739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Jours en hausse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5193506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Dataset quasi-équilibré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18749" y="5653326"/>
            <a:ext cx="2321243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8</a:t>
            </a:r>
            <a:endParaRPr lang="en-US" sz="38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57945" y="628530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Années de données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6611422"/>
            <a:ext cx="3571280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Crise 2008 incluse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800" y="1937350"/>
            <a:ext cx="230267" cy="18419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206466" y="1923301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Structure du dataset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533638" y="2308361"/>
            <a:ext cx="397240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Date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: Jour de trading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533638" y="2589110"/>
            <a:ext cx="397240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Label (0/1)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: Baisse/Hausse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533638" y="2869860"/>
            <a:ext cx="397240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Top1 à Top25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: Titres Reddit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694834" y="462976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Observations clés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694833" y="5012495"/>
            <a:ext cx="5012055" cy="1095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📈</a:t>
            </a: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Crise 2008–2009 visible : DJIA 12k → 6.5k</a:t>
            </a: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🗞️</a:t>
            </a: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Mots dominants : police, china, government → </a:t>
            </a:r>
            <a:r>
              <a:rPr lang="en-US" sz="1600" dirty="0" err="1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géopolitique</a:t>
            </a:r>
            <a:endParaRPr lang="en-US" sz="1600" dirty="0">
              <a:solidFill>
                <a:srgbClr val="2C3249"/>
              </a:solidFill>
              <a:latin typeface="Aptos" panose="020B0004020202020204" pitchFamily="34" charset="0"/>
              <a:ea typeface="Martel Sans" pitchFamily="34" charset="-122"/>
              <a:cs typeface="Martel Sans" pitchFamily="34" charset="-12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📝</a:t>
            </a: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~500 mots/jour : 25 titres × ~20 mots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744313" y="1304330"/>
            <a:ext cx="410741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08910" y="7251602"/>
            <a:ext cx="13042821" cy="502206"/>
          </a:xfrm>
          <a:prstGeom prst="roundRect">
            <a:avLst>
              <a:gd name="adj" fmla="val 1233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89" y="7436268"/>
            <a:ext cx="184190" cy="14739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61646" y="7418344"/>
            <a:ext cx="12416433" cy="209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ℹ</a:t>
            </a: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Bug fix V1→V2 :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Préfixe b'...' (Python 2 scraping) supprimé sur tous les titres → Impact : TF-IDF bigrammes corrects ("north korea", "stock market")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80E00264-8DC4-638E-26F6-BA8EE83755E7}"/>
              </a:ext>
            </a:extLst>
          </p:cNvPr>
          <p:cNvSpPr/>
          <p:nvPr/>
        </p:nvSpPr>
        <p:spPr>
          <a:xfrm>
            <a:off x="9744313" y="1304330"/>
            <a:ext cx="410741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150" dirty="0">
              <a:latin typeface="Aptos" panose="020B0004020202020204" pitchFamily="34" charset="0"/>
            </a:endParaRPr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251C8DA3-848F-D868-B3A9-BCCB839C4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118" y="954983"/>
            <a:ext cx="3705492" cy="2923676"/>
          </a:xfrm>
          <a:prstGeom prst="rect">
            <a:avLst/>
          </a:prstGeom>
        </p:spPr>
      </p:pic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13F07A0F-DA09-17A1-1BFE-2F36DFCD6E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842" y="3945023"/>
            <a:ext cx="3662768" cy="302489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B7461F6-9AAC-815F-82E8-30B3D7BD0C89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ACE087EB-ADD7-FDAB-2672-40603A47FB9C}"/>
              </a:ext>
            </a:extLst>
          </p:cNvPr>
          <p:cNvSpPr/>
          <p:nvPr/>
        </p:nvSpPr>
        <p:spPr>
          <a:xfrm>
            <a:off x="1125379" y="224276"/>
            <a:ext cx="703195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1 - Données &amp; Exploration</a:t>
            </a:r>
            <a:endParaRPr lang="en-US" sz="3600" dirty="0">
              <a:latin typeface="Aptos" panose="020B0004020202020204" pitchFamily="34" charset="0"/>
            </a:endParaRPr>
          </a:p>
          <a:p>
            <a:pPr>
              <a:lnSpc>
                <a:spcPts val="4700"/>
              </a:lnSpc>
            </a:pPr>
            <a:endParaRPr lang="en-US" sz="3750" dirty="0">
              <a:latin typeface="Aptos" panose="020B0004020202020204" pitchFamily="34" charset="0"/>
            </a:endParaRP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C128BC08-EEEB-E0E0-86D4-3E201E14543B}"/>
              </a:ext>
            </a:extLst>
          </p:cNvPr>
          <p:cNvCxnSpPr>
            <a:cxnSpLocks/>
          </p:cNvCxnSpPr>
          <p:nvPr/>
        </p:nvCxnSpPr>
        <p:spPr>
          <a:xfrm>
            <a:off x="0" y="826732"/>
            <a:ext cx="1463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>
            <a:extLst>
              <a:ext uri="{FF2B5EF4-FFF2-40B4-BE49-F238E27FC236}">
                <a16:creationId xmlns:a16="http://schemas.microsoft.com/office/drawing/2014/main" id="{37009D4A-3770-E67D-6E34-1F9FCD1EFD29}"/>
              </a:ext>
            </a:extLst>
          </p:cNvPr>
          <p:cNvSpPr/>
          <p:nvPr/>
        </p:nvSpPr>
        <p:spPr>
          <a:xfrm>
            <a:off x="793789" y="2387309"/>
            <a:ext cx="2371527" cy="3327810"/>
          </a:xfrm>
          <a:prstGeom prst="roundRect">
            <a:avLst>
              <a:gd name="adj" fmla="val 3628"/>
            </a:avLst>
          </a:prstGeom>
          <a:solidFill>
            <a:schemeClr val="bg1">
              <a:lumMod val="95000"/>
            </a:schemeClr>
          </a:solidFill>
          <a:ln w="762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31277" y="2303396"/>
            <a:ext cx="304359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Corrélation features vs Label</a:t>
            </a:r>
            <a:endParaRPr lang="en-US" sz="1850" dirty="0">
              <a:latin typeface="Aptos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8969" y="6177882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▼ X_all = TF-IDF + Financières + Sentiment → 5 010 dimensions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93789" y="6925198"/>
            <a:ext cx="13042821" cy="803505"/>
          </a:xfrm>
          <a:prstGeom prst="roundRect">
            <a:avLst>
              <a:gd name="adj" fmla="val 7719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00" y="7046699"/>
            <a:ext cx="240983" cy="1927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57371" y="7046699"/>
            <a:ext cx="12223552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💡</a:t>
            </a:r>
            <a:r>
              <a:rPr lang="en-US" sz="1600" b="1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Insight :</a:t>
            </a: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day_of_week est la feature la plus corrélée positivement au label → effet calendrier sous-estimé. ret_1d montre une corrélation négative → signal de mean-reversion.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366798C0-334A-A7FF-322C-83C01E0B8B6A}"/>
              </a:ext>
            </a:extLst>
          </p:cNvPr>
          <p:cNvSpPr/>
          <p:nvPr/>
        </p:nvSpPr>
        <p:spPr>
          <a:xfrm>
            <a:off x="994172" y="2544128"/>
            <a:ext cx="183153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latin typeface="Aptos" panose="020B0004020202020204" pitchFamily="34" charset="0"/>
                <a:ea typeface="Fraunces Medium" pitchFamily="34" charset="-122"/>
                <a:cs typeface="Fraunces Medium" pitchFamily="34" charset="-120"/>
              </a:rPr>
              <a:t>TF-IDF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E3B93BE7-5CD9-F3B7-9F2A-9E1A61C383D7}"/>
              </a:ext>
            </a:extLst>
          </p:cNvPr>
          <p:cNvSpPr/>
          <p:nvPr/>
        </p:nvSpPr>
        <p:spPr>
          <a:xfrm>
            <a:off x="955139" y="3356277"/>
            <a:ext cx="2132112" cy="18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5 000 features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Bigrammes (1,2)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sublinear_tf=True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stop_words anglais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F50B1F3C-5DD4-C421-E382-B08C4365BF0A}"/>
              </a:ext>
            </a:extLst>
          </p:cNvPr>
          <p:cNvSpPr/>
          <p:nvPr/>
        </p:nvSpPr>
        <p:spPr>
          <a:xfrm>
            <a:off x="3403817" y="2387309"/>
            <a:ext cx="2509837" cy="3327810"/>
          </a:xfrm>
          <a:prstGeom prst="roundRect">
            <a:avLst>
              <a:gd name="adj" fmla="val 3628"/>
            </a:avLst>
          </a:prstGeom>
          <a:solidFill>
            <a:schemeClr val="bg1">
              <a:lumMod val="95000"/>
            </a:schemeClr>
          </a:solidFill>
          <a:ln w="762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35378F12-E55C-1511-A166-4E13792D005A}"/>
              </a:ext>
            </a:extLst>
          </p:cNvPr>
          <p:cNvSpPr/>
          <p:nvPr/>
        </p:nvSpPr>
        <p:spPr>
          <a:xfrm>
            <a:off x="3604200" y="2587693"/>
            <a:ext cx="183153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latin typeface="Aptos" panose="020B0004020202020204" pitchFamily="34" charset="0"/>
                <a:ea typeface="Fraunces Medium" pitchFamily="34" charset="-122"/>
                <a:cs typeface="Fraunces Medium" pitchFamily="34" charset="-120"/>
              </a:rPr>
              <a:t>Financières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2A0314A-8E52-4B65-D7AB-F5C5930B50AC}"/>
              </a:ext>
            </a:extLst>
          </p:cNvPr>
          <p:cNvSpPr/>
          <p:nvPr/>
        </p:nvSpPr>
        <p:spPr>
          <a:xfrm>
            <a:off x="3553646" y="3377589"/>
            <a:ext cx="2332495" cy="159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6 features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ret_1d, ret_5d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vol_5d, vol_20d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RSI 14j · day_of_week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96F2551E-C3DD-2A91-7EA6-90FC36D7CE56}"/>
              </a:ext>
            </a:extLst>
          </p:cNvPr>
          <p:cNvSpPr/>
          <p:nvPr/>
        </p:nvSpPr>
        <p:spPr>
          <a:xfrm>
            <a:off x="6214229" y="2387309"/>
            <a:ext cx="2509837" cy="3327810"/>
          </a:xfrm>
          <a:prstGeom prst="roundRect">
            <a:avLst>
              <a:gd name="adj" fmla="val 3628"/>
            </a:avLst>
          </a:prstGeom>
          <a:solidFill>
            <a:schemeClr val="bg1">
              <a:lumMod val="95000"/>
            </a:schemeClr>
          </a:solidFill>
          <a:ln w="762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dirty="0">
              <a:latin typeface="Aptos" panose="020B0004020202020204" pitchFamily="34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4244B49E-8698-67D2-3AD7-F7109EE71C2E}"/>
              </a:ext>
            </a:extLst>
          </p:cNvPr>
          <p:cNvSpPr/>
          <p:nvPr/>
        </p:nvSpPr>
        <p:spPr>
          <a:xfrm>
            <a:off x="6414611" y="2544128"/>
            <a:ext cx="1831538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latin typeface="Aptos" panose="020B0004020202020204" pitchFamily="34" charset="0"/>
                <a:ea typeface="Fraunces Medium" pitchFamily="34" charset="-122"/>
                <a:cs typeface="Fraunces Medium" pitchFamily="34" charset="-120"/>
              </a:rPr>
              <a:t>Sentiment VADER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0E4A51D4-20A8-1DC8-3561-F91E79070D7B}"/>
              </a:ext>
            </a:extLst>
          </p:cNvPr>
          <p:cNvSpPr/>
          <p:nvPr/>
        </p:nvSpPr>
        <p:spPr>
          <a:xfrm>
            <a:off x="6352539" y="3382768"/>
            <a:ext cx="2810411" cy="188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4 features</a:t>
            </a: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sent_pos, </a:t>
            </a:r>
            <a:r>
              <a:rPr lang="en-US" sz="1600" dirty="0" err="1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sent_neg</a:t>
            </a:r>
            <a:endParaRPr lang="en-US" sz="1600" dirty="0">
              <a:latin typeface="Aptos" panose="020B0004020202020204" pitchFamily="34" charset="0"/>
              <a:ea typeface="Epilogue" pitchFamily="34" charset="-122"/>
              <a:cs typeface="Epilogue" pitchFamily="34" charset="-12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 err="1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sent_neu</a:t>
            </a:r>
            <a:endParaRPr lang="en-US" sz="1600" dirty="0">
              <a:latin typeface="Aptos" panose="020B0004020202020204" pitchFamily="34" charset="0"/>
              <a:ea typeface="Epilogue" pitchFamily="34" charset="-122"/>
              <a:cs typeface="Epilogue" pitchFamily="34" charset="-12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latin typeface="Aptos" panose="020B0004020202020204" pitchFamily="34" charset="0"/>
                <a:ea typeface="Epilogue" pitchFamily="34" charset="-122"/>
                <a:cs typeface="Epilogue" pitchFamily="34" charset="-120"/>
              </a:rPr>
              <a:t>sent_compound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BA119A15-FEB2-3798-96B6-5A2BFC985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656" y="2656388"/>
            <a:ext cx="4194572" cy="278141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B04445D-03A4-DF69-A7BE-94AEA5F2A5DA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5CCEDA5B-9929-2A6E-70F3-BEF2471CCEA3}"/>
              </a:ext>
            </a:extLst>
          </p:cNvPr>
          <p:cNvSpPr/>
          <p:nvPr/>
        </p:nvSpPr>
        <p:spPr>
          <a:xfrm>
            <a:off x="793789" y="209550"/>
            <a:ext cx="703195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endParaRPr lang="en-US" sz="3750" dirty="0">
              <a:latin typeface="Aptos" panose="020B0004020202020204" pitchFamily="34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383398F-4688-2CE8-76DB-5C5DA3B0CECC}"/>
              </a:ext>
            </a:extLst>
          </p:cNvPr>
          <p:cNvCxnSpPr>
            <a:cxnSpLocks/>
          </p:cNvCxnSpPr>
          <p:nvPr/>
        </p:nvCxnSpPr>
        <p:spPr>
          <a:xfrm>
            <a:off x="0" y="826732"/>
            <a:ext cx="1463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 0">
            <a:extLst>
              <a:ext uri="{FF2B5EF4-FFF2-40B4-BE49-F238E27FC236}">
                <a16:creationId xmlns:a16="http://schemas.microsoft.com/office/drawing/2014/main" id="{A18C42C1-D8EF-4FBB-FC55-EC772A1AD37F}"/>
              </a:ext>
            </a:extLst>
          </p:cNvPr>
          <p:cNvSpPr/>
          <p:nvPr/>
        </p:nvSpPr>
        <p:spPr>
          <a:xfrm>
            <a:off x="1125379" y="224276"/>
            <a:ext cx="703195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2 - Feature Engineering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E6FA8EE-4043-AE38-5984-447F9B16E6E5}"/>
              </a:ext>
            </a:extLst>
          </p:cNvPr>
          <p:cNvSpPr/>
          <p:nvPr/>
        </p:nvSpPr>
        <p:spPr>
          <a:xfrm>
            <a:off x="793671" y="1195209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000" i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Split </a:t>
            </a:r>
            <a:r>
              <a:rPr lang="en-US" sz="2000" i="1" dirty="0" err="1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chronologique</a:t>
            </a:r>
            <a:r>
              <a:rPr lang="en-US" sz="2000" i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strict : Train 2008→2013 (60%) · Validation 2014 (20%) · Test 2015→2016 (20%)</a:t>
            </a:r>
            <a:endParaRPr lang="en-US" sz="2000" i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14">
            <a:extLst>
              <a:ext uri="{FF2B5EF4-FFF2-40B4-BE49-F238E27FC236}">
                <a16:creationId xmlns:a16="http://schemas.microsoft.com/office/drawing/2014/main" id="{7C20C1A0-924A-AF2D-67C0-0064231FBFFA}"/>
              </a:ext>
            </a:extLst>
          </p:cNvPr>
          <p:cNvSpPr/>
          <p:nvPr/>
        </p:nvSpPr>
        <p:spPr>
          <a:xfrm>
            <a:off x="9573816" y="2541865"/>
            <a:ext cx="4262676" cy="1824038"/>
          </a:xfrm>
          <a:prstGeom prst="roundRect">
            <a:avLst>
              <a:gd name="adj" fmla="val 352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858014EF-46D0-7CBD-2496-14E641311044}"/>
              </a:ext>
            </a:extLst>
          </p:cNvPr>
          <p:cNvSpPr/>
          <p:nvPr/>
        </p:nvSpPr>
        <p:spPr>
          <a:xfrm>
            <a:off x="5183862" y="2784276"/>
            <a:ext cx="4262676" cy="1824038"/>
          </a:xfrm>
          <a:prstGeom prst="roundRect">
            <a:avLst>
              <a:gd name="adj" fmla="val 352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8E2EA0F2-C47A-6862-EE86-0A47BECBAD5E}"/>
              </a:ext>
            </a:extLst>
          </p:cNvPr>
          <p:cNvSpPr/>
          <p:nvPr/>
        </p:nvSpPr>
        <p:spPr>
          <a:xfrm>
            <a:off x="793672" y="3022402"/>
            <a:ext cx="4262676" cy="1824038"/>
          </a:xfrm>
          <a:prstGeom prst="roundRect">
            <a:avLst>
              <a:gd name="adj" fmla="val 352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671" y="1195209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i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Protocole : Walk-Forward Validation (3 fenêtres glissantes) · Métriques : Accuracy · F1 · AUC-ROC</a:t>
            </a:r>
            <a:endParaRPr lang="en-US" sz="2000" i="1" dirty="0">
              <a:latin typeface="Aptos" panose="020B00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3790" y="2433638"/>
            <a:ext cx="4262557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3811" y="307145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Niveau 1 — Classiques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3811" y="3413641"/>
            <a:ext cx="39225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TF-IDF + Financières + Sentiment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3811" y="3740229"/>
            <a:ext cx="3922514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Logistique (C=1.0)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Random Forest (200 arbres)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Gradient Boosting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3811" y="4608314"/>
            <a:ext cx="39225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Meilleur : GB · AUC 0.537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83862" y="2178487"/>
            <a:ext cx="4262557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53883" y="281630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Niveau 2 — Word2Vec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353883" y="3158490"/>
            <a:ext cx="39225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Word2Vec + Financières + Sentiment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353883" y="3485078"/>
            <a:ext cx="3922514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200 dimensions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Skip-gram, window=5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Doc = moyenne vecteurs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353883" y="4353163"/>
            <a:ext cx="39225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Meilleur global · AUC 0.550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73935" y="1923336"/>
            <a:ext cx="4262557" cy="1143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43956" y="256115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Niveau 3 — FinBERT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9743956" y="2903339"/>
            <a:ext cx="39225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Embeddings contextuels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743956" y="3229927"/>
            <a:ext cx="3922514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ProsusAI/finbert (109M)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Fine-tuning 3 époques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MAX_LEN=256 tokens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743956" y="4098012"/>
            <a:ext cx="392251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AUC 0.482 — overfitting</a:t>
            </a: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03400"/>
            <a:ext cx="5600678" cy="202775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95686" y="5303400"/>
            <a:ext cx="6448425" cy="2016740"/>
          </a:xfrm>
          <a:prstGeom prst="roundRect">
            <a:avLst>
              <a:gd name="adj" fmla="val 352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7881077" y="5668951"/>
            <a:ext cx="561939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⚠</a:t>
            </a:r>
            <a:r>
              <a:rPr lang="en-US" sz="2000" dirty="0">
                <a:solidFill>
                  <a:srgbClr val="F5C518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Contre-intuitif : </a:t>
            </a:r>
            <a:r>
              <a:rPr lang="en-US" sz="2000" dirty="0"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Word2Vec (N2) &gt; FinBERT (N3) 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7881077" y="6038759"/>
            <a:ext cx="5619393" cy="97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FinBERT souffre du corpus trop petit (255 steps seulement). Le F1 élevé (0.665) masque un biais vers la classe "hausse" . l'AUC (0.482) révèle une discrimination quasi-aléatoire.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B4CD59-37E8-CBC7-7B28-431059765B65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6140262-FD73-1CD5-7137-95BD8CD0C6B8}"/>
              </a:ext>
            </a:extLst>
          </p:cNvPr>
          <p:cNvCxnSpPr>
            <a:cxnSpLocks/>
          </p:cNvCxnSpPr>
          <p:nvPr/>
        </p:nvCxnSpPr>
        <p:spPr>
          <a:xfrm>
            <a:off x="0" y="826732"/>
            <a:ext cx="1463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 0">
            <a:extLst>
              <a:ext uri="{FF2B5EF4-FFF2-40B4-BE49-F238E27FC236}">
                <a16:creationId xmlns:a16="http://schemas.microsoft.com/office/drawing/2014/main" id="{06F1C97E-6721-B94B-7D2F-3EAC75DE27D6}"/>
              </a:ext>
            </a:extLst>
          </p:cNvPr>
          <p:cNvSpPr/>
          <p:nvPr/>
        </p:nvSpPr>
        <p:spPr>
          <a:xfrm>
            <a:off x="1125379" y="224276"/>
            <a:ext cx="703195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3 - </a:t>
            </a:r>
            <a:r>
              <a:rPr lang="en-US" sz="3600" dirty="0" err="1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Modélisation</a:t>
            </a:r>
            <a:endParaRPr lang="en-US" sz="36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1524"/>
            <a:ext cx="4667964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489234"/>
            <a:ext cx="13042821" cy="3019901"/>
          </a:xfrm>
          <a:prstGeom prst="roundRect">
            <a:avLst>
              <a:gd name="adj" fmla="val 26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01410" y="1496854"/>
            <a:ext cx="11040785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78192" y="1602700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Niveau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00506" y="1602700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Modèle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50242" y="1602700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Accuracy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0666" y="1602700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F1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48342" y="1602700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AUC-ROC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410" y="1993821"/>
            <a:ext cx="11040785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78192" y="2099667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N1 — Classique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00506" y="2099667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Régression Logistique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50242" y="2099667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0.487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0666" y="2099667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0.592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48342" y="2099667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0.481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2490788"/>
            <a:ext cx="11040785" cy="4969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78192" y="2596634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N1 — Classique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00506" y="2596634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Random Forest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50242" y="2596634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0.508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0666" y="2596634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0.652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548342" y="2596634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0.481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1410" y="2987754"/>
            <a:ext cx="11040785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678192" y="3093601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N1 — Classique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00506" y="3093601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Gradient Boosting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50242" y="3093601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0.511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0666" y="3093601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0.588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548342" y="3093601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0.537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01410" y="3484721"/>
            <a:ext cx="11040785" cy="5198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678192" y="3590568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N2 — Embeddings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00506" y="3590568"/>
            <a:ext cx="2256592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Word2Vec + GB </a:t>
            </a:r>
            <a:endParaRPr lang="en-US" sz="16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50242" y="3590568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0.534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40666" y="3590568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0.627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48342" y="3590568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0.550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01410" y="4004548"/>
            <a:ext cx="11040785" cy="4969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FR" sz="16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678192" y="4110395"/>
            <a:ext cx="192917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N3 — Transformer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00506" y="4110395"/>
            <a:ext cx="225659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FinBERT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650242" y="4110395"/>
            <a:ext cx="109728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0.503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140666" y="4110395"/>
            <a:ext cx="101453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0.665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548342" y="4110395"/>
            <a:ext cx="1101090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0.482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93790" y="4693444"/>
            <a:ext cx="13042821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049" y="4947951"/>
            <a:ext cx="11086386" cy="2282071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C48D925-B32D-476D-8A78-3A6F9A0F9B3F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Aptos" panose="020B0004020202020204" pitchFamily="34" charset="0"/>
            </a:endParaRP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9C2811D7-D816-A2D8-8D37-EDCD248E876F}"/>
              </a:ext>
            </a:extLst>
          </p:cNvPr>
          <p:cNvCxnSpPr>
            <a:cxnSpLocks/>
          </p:cNvCxnSpPr>
          <p:nvPr/>
        </p:nvCxnSpPr>
        <p:spPr>
          <a:xfrm>
            <a:off x="0" y="826732"/>
            <a:ext cx="1463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 0">
            <a:extLst>
              <a:ext uri="{FF2B5EF4-FFF2-40B4-BE49-F238E27FC236}">
                <a16:creationId xmlns:a16="http://schemas.microsoft.com/office/drawing/2014/main" id="{83F1EBFE-B7F2-DF6B-4269-DAA7F336203B}"/>
              </a:ext>
            </a:extLst>
          </p:cNvPr>
          <p:cNvSpPr/>
          <p:nvPr/>
        </p:nvSpPr>
        <p:spPr>
          <a:xfrm>
            <a:off x="1125379" y="224276"/>
            <a:ext cx="703195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4 - </a:t>
            </a:r>
            <a:r>
              <a:rPr lang="en-US" sz="3600" dirty="0" err="1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Résultats</a:t>
            </a:r>
            <a:r>
              <a:rPr lang="en-US" sz="3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en-US" sz="3600" dirty="0" err="1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comparatifs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47" name="Bulle narrative : rectangle 46">
            <a:extLst>
              <a:ext uri="{FF2B5EF4-FFF2-40B4-BE49-F238E27FC236}">
                <a16:creationId xmlns:a16="http://schemas.microsoft.com/office/drawing/2014/main" id="{AB5F2E9B-DBFC-D038-2E7D-7E7E44AA7046}"/>
              </a:ext>
            </a:extLst>
          </p:cNvPr>
          <p:cNvSpPr/>
          <p:nvPr/>
        </p:nvSpPr>
        <p:spPr>
          <a:xfrm>
            <a:off x="11676399" y="3093601"/>
            <a:ext cx="2256593" cy="1061282"/>
          </a:xfrm>
          <a:prstGeom prst="wedgeRectCallout">
            <a:avLst>
              <a:gd name="adj1" fmla="val -60329"/>
              <a:gd name="adj2" fmla="val 7007"/>
            </a:avLst>
          </a:prstGeom>
          <a:solidFill>
            <a:srgbClr val="B6D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🏆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Meilleur </a:t>
            </a:r>
            <a:r>
              <a:rPr lang="en-US" sz="1600" b="1" dirty="0" err="1">
                <a:solidFill>
                  <a:schemeClr val="tx1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modèle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 :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Word2Vec + GB (AUC 0.550, Accuracy 0.534)</a:t>
            </a:r>
            <a:endParaRPr lang="en-US" sz="16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3E201403-699B-AD5D-B93F-9C36AEDBFB68}"/>
              </a:ext>
            </a:extLst>
          </p:cNvPr>
          <p:cNvSpPr/>
          <p:nvPr/>
        </p:nvSpPr>
        <p:spPr>
          <a:xfrm>
            <a:off x="7307580" y="4410214"/>
            <a:ext cx="6529030" cy="1067837"/>
          </a:xfrm>
          <a:prstGeom prst="roundRect">
            <a:avLst>
              <a:gd name="adj" fmla="val 3628"/>
            </a:avLst>
          </a:prstGeom>
          <a:solidFill>
            <a:schemeClr val="bg1">
              <a:lumMod val="95000"/>
            </a:schemeClr>
          </a:solidFill>
          <a:ln w="762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DFBEA242-9129-225A-3962-C8C108A37CE9}"/>
              </a:ext>
            </a:extLst>
          </p:cNvPr>
          <p:cNvSpPr/>
          <p:nvPr/>
        </p:nvSpPr>
        <p:spPr>
          <a:xfrm>
            <a:off x="7296150" y="1697250"/>
            <a:ext cx="6529030" cy="2411200"/>
          </a:xfrm>
          <a:prstGeom prst="roundRect">
            <a:avLst>
              <a:gd name="adj" fmla="val 3628"/>
            </a:avLst>
          </a:prstGeom>
          <a:solidFill>
            <a:schemeClr val="bg1">
              <a:lumMod val="95000"/>
            </a:schemeClr>
          </a:solidFill>
          <a:ln w="762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89" y="1697250"/>
            <a:ext cx="419076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b="1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Feature Importance (Gradient Boosting)</a:t>
            </a:r>
            <a:endParaRPr lang="en-US" sz="2000" b="1" dirty="0">
              <a:latin typeface="Aptos" panose="020B00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20" y="2368736"/>
            <a:ext cx="6287949" cy="31240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57968" y="190064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Limites &amp; Perspectives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38918" y="2311613"/>
            <a:ext cx="6286262" cy="199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Biais vers la hausse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280 pred. hausse vs 98 baisse → discrimine mal les baisses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2013 systématiquement &lt; 0.5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Signal absent cette année quelle que soit la méthode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FinBERT : data hunger</a:t>
            </a:r>
            <a:endParaRPr lang="en-US" sz="16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60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109M params, 255 steps → trop peu de données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70930" y="5892868"/>
            <a:ext cx="13050440" cy="1205984"/>
          </a:xfrm>
          <a:prstGeom prst="roundRect">
            <a:avLst>
              <a:gd name="adj" fmla="val 6715"/>
            </a:avLst>
          </a:prstGeom>
          <a:solidFill>
            <a:srgbClr val="CFE2DE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046" y="4629700"/>
            <a:ext cx="301228" cy="2409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44721" y="458969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Piste d'amélioration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244721" y="5003317"/>
            <a:ext cx="5406747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Feature extraction figée, corpus plus grand, hyperopt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60134" y="6194632"/>
            <a:ext cx="12753618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b="1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Conclusion :</a:t>
            </a:r>
            <a:r>
              <a:rPr lang="en-US" sz="1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</a:t>
            </a:r>
            <a:r>
              <a:rPr lang="en-US" sz="1600" dirty="0"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Le signal textuel est un proxy imparfait. Avec AUC ~0.55, les modèles font légèrement mieux que le hasard mais restent fragiles face à l'instabilité temporelle des marchés.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70931" y="5948887"/>
            <a:ext cx="22860" cy="1093946"/>
          </a:xfrm>
          <a:prstGeom prst="rect">
            <a:avLst/>
          </a:prstGeom>
          <a:solidFill>
            <a:srgbClr val="437066"/>
          </a:solidFill>
          <a:ln/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A95E6E-A207-44C8-3EA5-C2679FE7E3A6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0D83B7F-0AB5-9BF7-BE29-D1DFC1A5CFB6}"/>
              </a:ext>
            </a:extLst>
          </p:cNvPr>
          <p:cNvCxnSpPr>
            <a:cxnSpLocks/>
          </p:cNvCxnSpPr>
          <p:nvPr/>
        </p:nvCxnSpPr>
        <p:spPr>
          <a:xfrm>
            <a:off x="0" y="826732"/>
            <a:ext cx="146304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 0">
            <a:extLst>
              <a:ext uri="{FF2B5EF4-FFF2-40B4-BE49-F238E27FC236}">
                <a16:creationId xmlns:a16="http://schemas.microsoft.com/office/drawing/2014/main" id="{CE2CCAFD-B772-951A-1B7A-D7EECB0D9B72}"/>
              </a:ext>
            </a:extLst>
          </p:cNvPr>
          <p:cNvSpPr/>
          <p:nvPr/>
        </p:nvSpPr>
        <p:spPr>
          <a:xfrm>
            <a:off x="1125379" y="224276"/>
            <a:ext cx="703195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5 - </a:t>
            </a:r>
            <a:r>
              <a:rPr lang="en-US" sz="3600" dirty="0" err="1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Interprétation</a:t>
            </a:r>
            <a:r>
              <a:rPr lang="en-US" sz="36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&amp; Conclusion</a:t>
            </a:r>
            <a:endParaRPr lang="en-US" sz="36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>
            <a:extLst>
              <a:ext uri="{FF2B5EF4-FFF2-40B4-BE49-F238E27FC236}">
                <a16:creationId xmlns:a16="http://schemas.microsoft.com/office/drawing/2014/main" id="{36682A47-B316-226A-988A-75A03578DB39}"/>
              </a:ext>
            </a:extLst>
          </p:cNvPr>
          <p:cNvSpPr/>
          <p:nvPr/>
        </p:nvSpPr>
        <p:spPr>
          <a:xfrm>
            <a:off x="474562" y="3854823"/>
            <a:ext cx="13704425" cy="3032114"/>
          </a:xfrm>
          <a:prstGeom prst="roundRect">
            <a:avLst>
              <a:gd name="adj" fmla="val 3524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fr-FR">
              <a:latin typeface="Aptos" panose="020B00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4491479" y="1159116"/>
            <a:ext cx="5670590" cy="20512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8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Merci</a:t>
            </a:r>
            <a:r>
              <a:rPr lang="en-US" sz="6000" dirty="0">
                <a:solidFill>
                  <a:srgbClr val="272D45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 !</a:t>
            </a:r>
            <a:endParaRPr lang="en-US" sz="6000" dirty="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3464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645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Projet : </a:t>
            </a:r>
            <a:r>
              <a:rPr lang="en-US" sz="1750" dirty="0"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News-Based DJIA Prediction · Dataset Kaggle 2008–2016 · 3 niveaux de modélisation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69594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0.550</a:t>
            </a:r>
            <a:endParaRPr lang="en-US" sz="585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72774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AUC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22673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Word2Vec + GB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35893" y="469594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53.4%</a:t>
            </a:r>
            <a:endParaRPr lang="en-US" sz="585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35893" y="572774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Accuracy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35893" y="622673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Meilleur modèle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77995" y="469594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3249"/>
                </a:solidFill>
                <a:latin typeface="Aptos" panose="020B0004020202020204" pitchFamily="34" charset="0"/>
                <a:ea typeface="Kanit Light" pitchFamily="34" charset="-122"/>
                <a:cs typeface="Kanit Light" pitchFamily="34" charset="-120"/>
              </a:rPr>
              <a:t>1989</a:t>
            </a:r>
            <a:endParaRPr lang="en-US" sz="585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677995" y="572774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Jours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77995" y="622673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Aptos" panose="020B0004020202020204" pitchFamily="34" charset="0"/>
                <a:ea typeface="Martel Sans" pitchFamily="34" charset="-122"/>
                <a:cs typeface="Martel Sans" pitchFamily="34" charset="-120"/>
              </a:rPr>
              <a:t>Dataset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008F0-C77E-7DAC-FB3A-1BCBB1CC1A8A}"/>
              </a:ext>
            </a:extLst>
          </p:cNvPr>
          <p:cNvSpPr/>
          <p:nvPr/>
        </p:nvSpPr>
        <p:spPr>
          <a:xfrm>
            <a:off x="12750085" y="7753082"/>
            <a:ext cx="1880315" cy="4765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732</Words>
  <Application>Microsoft Office PowerPoint</Application>
  <PresentationFormat>Personnalisé</PresentationFormat>
  <Paragraphs>157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Aptos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Alexander Besson</dc:creator>
  <cp:lastModifiedBy>Alexander Besson</cp:lastModifiedBy>
  <cp:revision>9</cp:revision>
  <dcterms:created xsi:type="dcterms:W3CDTF">2026-04-20T15:00:33Z</dcterms:created>
  <dcterms:modified xsi:type="dcterms:W3CDTF">2026-04-20T16:26:08Z</dcterms:modified>
</cp:coreProperties>
</file>